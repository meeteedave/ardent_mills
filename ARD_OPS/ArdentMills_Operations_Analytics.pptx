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OEE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5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17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8A5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Pack OEE
Mean</c:v>
                  </c:pt>
                  <c:pt idx="1">
                    <c:v>Mill OEE
Mean</c:v>
                  </c:pt>
                  <c:pt idx="2">
                    <c:v>World Class
Target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50.3</c:v>
                </c:pt>
                <c:pt idx="1">
                  <c:v>76.3</c:v>
                </c:pt>
                <c:pt idx="2">
                  <c:v>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5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F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5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B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B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Albany (1001)</c:v>
                  </c:pt>
                  <c:pt idx="1">
                    <c:v>Ogden (1025)</c:v>
                  </c:pt>
                  <c:pt idx="2">
                    <c:v>Ayer (1004)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</c:v>
                </c:pt>
                <c:pt idx="1">
                  <c:v>900</c:v>
                </c:pt>
                <c:pt idx="2">
                  <c:v>260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5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8A5A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0F717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On Time</c:v>
                </c:pt>
                <c:pt idx="1">
                  <c:v>Late</c:v>
                </c:pt>
                <c:pt idx="2">
                  <c:v>Upcoming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223</c:v>
                </c:pt>
                <c:pt idx="1">
                  <c:v>82</c:v>
                </c:pt>
                <c:pt idx="2">
                  <c:v>323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"/>
            <a:ext cx="3474720" cy="5015484"/>
          </a:xfrm>
          <a:prstGeom prst="rect">
            <a:avLst/>
          </a:prstGeom>
          <a:solidFill>
            <a:srgbClr val="092036"/>
          </a:solidFill>
          <a:ln w="12700">
            <a:solidFill>
              <a:srgbClr val="0920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-457200"/>
            <a:ext cx="1463040" cy="146304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005840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</a:rPr>
              <a:t>ARDENT MILL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E8A020"/>
                </a:solidFill>
              </a:rPr>
              <a:t>OPERATIONS ANALYTICS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0" y="2542032"/>
            <a:ext cx="5029200" cy="36576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651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C8DD"/>
                </a:solidFill>
              </a:rPr>
              <a:t>End-to-End Pipeline: Extract → OLTP Load → EDA → Star Schema → OLAP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246120"/>
            <a:ext cx="1170432" cy="1005840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27355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</a:rPr>
              <a:t>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384048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</a:rPr>
              <a:t>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</a:rPr>
              <a:t>Datasets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937760" y="3246120"/>
            <a:ext cx="1170432" cy="1005840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27355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</a:rPr>
              <a:t>18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37760" y="384048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</a:rPr>
              <a:t>OLTP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</a:rPr>
              <a:t>Tables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3246120"/>
            <a:ext cx="1170432" cy="1005840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27355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</a:rPr>
              <a:t>3,591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384048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</a:rPr>
              <a:t>Source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</a:rPr>
              <a:t>Rows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98080" y="3246120"/>
            <a:ext cx="1170432" cy="1005840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3273552"/>
            <a:ext cx="11704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020"/>
                </a:solidFill>
              </a:rPr>
              <a:t>5,543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498080" y="384048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</a:rPr>
              <a:t>Loaded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</a:rPr>
              <a:t>Rows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82880" y="457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A020"/>
                </a:solidFill>
              </a:rPr>
              <a:t>DATA DOMAINS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" y="8686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📦  Pack Production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8600" y="12710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⚙️  Mill Operations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" y="16733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💰  Sales &amp; Orders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8600" y="20756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🔧  Maintenance WOs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8600" y="247802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🧹  Bin Cleaning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" y="28803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🚛  Fill &amp; Logistics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7A96"/>
                </a:solidFill>
              </a:rPr>
              <a:t>Prepared for Internal Team Review  •  Mar–Apr 2017 Data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End-to-End Project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From Raw Data Ingestion to OLAP Analytics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188720"/>
            <a:ext cx="1298448" cy="26517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" y="129844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654"/>
                </a:solidFill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8600" y="175564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658368" cy="2743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2240280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Pull raw CSV/Excel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files from source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systems (6 sheets)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27048" y="2478024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18488" y="1188720"/>
            <a:ext cx="1298448" cy="2651760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18488" y="129844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654"/>
                </a:solidFill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18488" y="175564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OLTP Load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38528" y="2148840"/>
            <a:ext cx="658368" cy="2743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73352" y="2240280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Transform &amp; load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into 18 normalized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target tables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16936" y="2478024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08376" y="1188720"/>
            <a:ext cx="1298448" cy="265176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008376" y="129844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654"/>
                </a:solidFill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008376" y="175564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28416" y="2148840"/>
            <a:ext cx="658368" cy="2743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2240280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Profile, validate,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outlier detection,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null analysis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06824" y="2478024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98264" y="1188720"/>
            <a:ext cx="1298448" cy="26517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398264" y="129844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654"/>
                </a:solidFill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398264" y="175564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Cleaning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18304" y="2148840"/>
            <a:ext cx="658368" cy="2743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3128" y="2240280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Handle nulls, strip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spaces, normalize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join keys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96712" y="2478024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188720"/>
            <a:ext cx="1298448" cy="265176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88152" y="129844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654"/>
                </a:solidFill>
              </a:rPr>
              <a:t>05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788152" y="175564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 Eng.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08192" y="2148840"/>
            <a:ext cx="658368" cy="2743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43016" y="2240280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OEE decomposition,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KPI derivation,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temporal features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86600" y="2478024"/>
            <a:ext cx="73152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78040" y="1188720"/>
            <a:ext cx="1298448" cy="2651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78040" y="1298448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654"/>
                </a:solidFill>
              </a:rPr>
              <a:t>06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7178040" y="175564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Star Schema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498080" y="2148840"/>
            <a:ext cx="658368" cy="2743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32904" y="2240280"/>
            <a:ext cx="1188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Design dim &amp; fact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tables, build OLAP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CE8F0"/>
                </a:solidFill>
              </a:rPr>
              <a:t>cube for analytics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Extract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Raw Source Files → Staging Layer (6 Source Sheets, 3,591 Rows)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88720"/>
            <a:ext cx="2194560" cy="347472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887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A020"/>
                </a:solidFill>
              </a:rPr>
              <a:t>SOURCE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1664208"/>
            <a:ext cx="2048256" cy="347472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68249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Pack.xlsx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37360" y="168249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A020"/>
                </a:solidFill>
              </a:rPr>
              <a:t>333 rows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084832"/>
            <a:ext cx="2048256" cy="347472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1031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Mill.xlsx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37360" y="210312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A020"/>
                </a:solidFill>
              </a:rPr>
              <a:t>367 rows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2505456"/>
            <a:ext cx="2048256" cy="347472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52374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Sales.xlsx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252374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A020"/>
                </a:solidFill>
              </a:rPr>
              <a:t>1,610 rows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2926080"/>
            <a:ext cx="2048256" cy="347472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94436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WorkOrder.xlsx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37360" y="294436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A020"/>
                </a:solidFill>
              </a:rPr>
              <a:t>628 rows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346704"/>
            <a:ext cx="2048256" cy="347472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33649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BinCleaning.xlsx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37360" y="336499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A020"/>
                </a:solidFill>
              </a:rPr>
              <a:t>162 rows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767328"/>
            <a:ext cx="2048256" cy="347472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78561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Fills.xlsx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737360" y="378561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E8A020"/>
                </a:solidFill>
              </a:rPr>
              <a:t>491 rows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87168" y="2788920"/>
            <a:ext cx="50292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2651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020"/>
                </a:solidFill>
              </a:rPr>
              <a:t>▶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291840" y="118872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1188720"/>
            <a:ext cx="2743200" cy="384048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0" y="118872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EXTRACT STEPS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01568" y="166420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① Read all 6 source files into staging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01568" y="204825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② Validate schema: column names &amp; types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01568" y="2432304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③ Count rows per source table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401568" y="2816352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④ Detect nulls per column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01568" y="3200400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⑤ Strip trailing whitespace from text fields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01568" y="3584448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⑥ Validate date ranges (Mar–Apr 2017)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01568" y="3968496"/>
            <a:ext cx="25237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⑦ Check referential keys before OLTP load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53328" y="2788920"/>
            <a:ext cx="50292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265176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A020"/>
                </a:solidFill>
              </a:rPr>
              <a:t>▶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858000" y="1188720"/>
            <a:ext cx="2011680" cy="3474720"/>
          </a:xfrm>
          <a:prstGeom prst="rect">
            <a:avLst/>
          </a:prstGeom>
          <a:solidFill>
            <a:srgbClr val="1B4A2E"/>
          </a:solidFill>
          <a:ln w="12700">
            <a:solidFill>
              <a:srgbClr val="1B8A5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58000" y="11887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STAGING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037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FFC0"/>
                </a:solidFill>
              </a:rPr>
              <a:t>✔ Schema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EFFC0"/>
                </a:solidFill>
              </a:rPr>
              <a:t>Validated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0372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FFC0"/>
                </a:solidFill>
              </a:rPr>
              <a:t>✔ 3,591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EFFC0"/>
                </a:solidFill>
              </a:rPr>
              <a:t>Rows Ready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03720" y="28803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EFFC0"/>
                </a:solidFill>
              </a:rPr>
              <a:t>✔ 105 Cols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7EFFC0"/>
                </a:solidFill>
              </a:rPr>
              <a:t>Across 6 Tables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03720" y="34747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020"/>
                </a:solidFill>
              </a:rPr>
              <a:t>→ Ready for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E8A020"/>
                </a:solidFill>
              </a:rPr>
              <a:t>OLTP Load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6 Operational Source Tables Analyzed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43000"/>
          <a:ext cx="859536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548640"/>
                <a:gridCol w="1554480"/>
                <a:gridCol w="155448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Missing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Date Range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Business Domain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Pack (Packaging)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333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11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42 nulls (12.6%)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Mar 10–23, 2017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Packaging Operations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Mill (Milling)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367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8A5A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Mar 10–22, 2017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Milling Operations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Sales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1,610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8A5A"/>
                          </a:solidFill>
                        </a:rPr>
                        <a:t>None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Mar 10–23, 2017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Sales &amp; Revenue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WorkOrder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628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165 nulls (mixed)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Mar 11–Apr 5, 2017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Maintenance Mgmt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BinCleaning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162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21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F1C40F"/>
                          </a:solidFill>
                        </a:rPr>
                        <a:t>154+ nulls (cmts)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As of Mar 23, 2017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Food Safety / Sanitation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Fills (Logistics)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491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44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0392B"/>
                          </a:solidFill>
                        </a:rPr>
                        <a:t>491 nulls (STCC 100%)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Mar 10–23, 2017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535"/>
                          </a:solidFill>
                        </a:rPr>
                        <a:t>Logistics &amp; Fulfillment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617720"/>
            <a:ext cx="1600200" cy="411480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4672584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3,591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20040" y="4872838"/>
            <a:ext cx="1508760" cy="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Total Source Rows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11680" y="4617720"/>
            <a:ext cx="1600200" cy="4114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011680" y="4672584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057400" y="4872838"/>
            <a:ext cx="1508760" cy="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Total Columns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749040" y="4617720"/>
            <a:ext cx="16002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749040" y="4672584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862+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3794760" y="4872838"/>
            <a:ext cx="1508760" cy="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Null Values Found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0" y="4617720"/>
            <a:ext cx="1600200" cy="41148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0" y="4672584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Mar–Apr 2017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5532120" y="4872838"/>
            <a:ext cx="1508760" cy="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Date Range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223760" y="4617720"/>
            <a:ext cx="160020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23760" y="4672584"/>
            <a:ext cx="1600200" cy="2468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269480" y="4872838"/>
            <a:ext cx="1508760" cy="144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Source Datasets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Pack &amp; Mill EDA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Packaging &amp; Milling Operations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64008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252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Pack OEE – 50.3% Mean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" y="1481328"/>
            <a:ext cx="400507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Far below world-class 85% target. 42 null GoodUnit records (12.6%) and at least one OEE &gt;100% indicate measurement artifacts requiring capping.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70432"/>
            <a:ext cx="64008" cy="1737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7176" y="12252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</a:rPr>
              <a:t>Pack Downtime Avg 50 min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7176" y="1481328"/>
            <a:ext cx="400507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Outliers reaching 414 min. High variance (σ=75) signals inconsistent operations across Albany &amp; Ogden sites.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4495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44952"/>
            <a:ext cx="64008" cy="1737360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30998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B8C"/>
                </a:solidFill>
              </a:rPr>
              <a:t>Mill OEE – 76.3% Mean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" y="3355848"/>
            <a:ext cx="400507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Better than Pack but 83 outlier records show OEE &gt;1.0 — data anomalies. No-demand downtime averages 104 min/session.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044952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44952"/>
            <a:ext cx="64008" cy="17373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30998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A4A"/>
                </a:solidFill>
              </a:rPr>
              <a:t>Mill Downtime Spikes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37176" y="3355848"/>
            <a:ext cx="400507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Max downtime of 1,440 min (full day). High no-demand downtime at Ayer, Albany, Ogden sites suggests capacity vs demand mismatch.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4663440"/>
          <a:ext cx="8595360" cy="502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Sales EDA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Revenue &amp; Order Analysis — 1,610 Records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1627632" cy="12070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225296"/>
            <a:ext cx="1627632" cy="7242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1,610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1918777"/>
            <a:ext cx="1536192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Total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Orders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170432"/>
            <a:ext cx="1627632" cy="1207008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11680" y="1225296"/>
            <a:ext cx="1627632" cy="7242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1,325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57400" y="1918777"/>
            <a:ext cx="1536192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Unique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Order IDs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170432"/>
            <a:ext cx="1627632" cy="120700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1225296"/>
            <a:ext cx="1627632" cy="7242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145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794760" y="1918777"/>
            <a:ext cx="1536192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Unique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Customers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1170432"/>
            <a:ext cx="1627632" cy="1207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225296"/>
            <a:ext cx="1627632" cy="7242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426.6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532120" y="1918777"/>
            <a:ext cx="1536192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Avg Invoice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(CWT)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23760" y="1170432"/>
            <a:ext cx="1627632" cy="120700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225296"/>
            <a:ext cx="1627632" cy="72420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-1,168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 2,966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69480" y="1918777"/>
            <a:ext cx="1536192" cy="4224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Invoice Range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(negatives=returns)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54203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542032"/>
            <a:ext cx="64008" cy="1097280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5968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B8C"/>
                </a:solidFill>
              </a:rPr>
              <a:t>Order Volume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" y="2852928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1,610 lines across 1,325 unique orders — multi-line orders are common. 3 sites: Albany (1001), Ogden (1025), Ayer (1004).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254203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2542032"/>
            <a:ext cx="64008" cy="1097280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37176" y="259689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B8C"/>
                </a:solidFill>
              </a:rPr>
              <a:t>Customer Concentration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37176" y="2852928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145 customers; top customers include Domino's, Pepperidge Farm, Koffee Kup, and Bimbo Hungria across East &amp; West regions.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7307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730752"/>
            <a:ext cx="64008" cy="1097280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37856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B8C"/>
                </a:solidFill>
              </a:rPr>
              <a:t>Negative Invoices (Returns)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2336" y="4041648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Negative CWT values down to -1,168 indicate product returns. These need separate fact table handling or exclusion flags.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73075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730752"/>
            <a:ext cx="64008" cy="1097280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37176" y="378561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B8C"/>
                </a:solidFill>
              </a:rPr>
              <a:t>Mixed Order ID Format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37176" y="4041648"/>
            <a:ext cx="40050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Order numbers use both numeric (82xxxxx) and alphanumeric (M0xxxxxx) formats — requires string normalization before dimensional load.</a:t>
            </a:r>
            <a:endParaRPr lang="en-US" sz="95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274320" y="4617720"/>
          <a:ext cx="8595360" cy="5120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 Order &amp; Maintenance EDA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628 Work Orders | Preventive vs Corrective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64008" cy="1783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2618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⚠️ 13.1% Late WOs (82 orders)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16276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Late completion rate. Food safety work orders cannot afford delays — triggers compliance risk review.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70432"/>
            <a:ext cx="64008" cy="1783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2618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🔧 17.7% Missing Maintenance Type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5464" y="16276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111 null values in MAINTENANCE_TYP field — data entry gap that reduces reporting accuracy. Mapped to UNKNOWN member.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90672"/>
            <a:ext cx="64008" cy="1783080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1821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8A5A"/>
                </a:solidFill>
              </a:rPr>
              <a:t>✅ 78% Preventive Ratio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354787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78% of WOs are preventive — close to the industry best-practice threshold of 80%+ for PM dominance.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09067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90672"/>
            <a:ext cx="64008" cy="1783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31821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A"/>
                </a:solidFill>
              </a:rPr>
              <a:t>📋 Large Upcoming Backlog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55464" y="354787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323 WOs are UPCOMING — requires workload planning to prevent future lateness spike at all three sites.</a:t>
            </a:r>
            <a:endParaRPr lang="en-US" sz="9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4572000"/>
          <a:ext cx="2286000" cy="640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Bin Cleaning &amp; Fills (Logistics) EDA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Food Safety Sanitation &amp; Bulk Logistics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64008" cy="1783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2618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🚨 Max 722 Days Since Cleaning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0624" y="16276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One bin went 722 days without cleaning — 2 years overdue. Critical food safety violation flag requiring immediate action.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70432"/>
            <a:ext cx="64008" cy="17830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12618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📊 Mean Cleaning Gap: 130 Days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55464" y="162763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Average of 130 days between cleanings despite 30-day standard for most bins. Significant compliance gap across all 3 sites.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09067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90672"/>
            <a:ext cx="64008" cy="1783080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1821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B8C"/>
                </a:solidFill>
              </a:rPr>
              <a:t>🚛 Avg Fill: 518 CWT (Goal: 510)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0624" y="354787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Average slightly above goal, but 26.9% of loads (132) missed the 510 CWT target. Each CWT shortfall = lost revenue.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3090672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90672"/>
            <a:ext cx="64008" cy="178308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318211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A4A"/>
                </a:solidFill>
              </a:rPr>
              <a:t>⚡ STCC Code 100% Null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55464" y="3547872"/>
            <a:ext cx="3931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All 491 STCC_Code values are missing — transport commodity classification entirely absent. Must be resolved pre-reporting.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Quality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Issues, Anomalies &amp; Recommended Fixes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43000"/>
            <a:ext cx="4160520" cy="38404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430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KEY ANOMALIES FOUND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618488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🔴 Pack OEE &gt; 100% (data artifact)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94767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🔴 Mill OEE &gt; 1.83 (83 records)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276856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🔴 Bin max 722 days uncleaned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606040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🟡 Negative CalcDT (shift overtime)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935224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🟡 Trailing spaces in site names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3264408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🟡 MadeGoal encoded as -1/0 (inverted)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593592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🟢 Miles column all zeros in Fills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3922776"/>
            <a:ext cx="3877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🟢 Sales order ID mixed alpha/numeric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14300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143000"/>
            <a:ext cx="4160520" cy="384048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43000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</a:rPr>
              <a:t>RECOMMENDED 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1636776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636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38928" y="1636776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Impute or drop Pack GoodUnits nulls — they block OEE calculation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28032" y="2112264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11226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38928" y="2112264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Cap OEE at 1.0 and log anomalies as data quality flags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28032" y="258775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587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38928" y="2587752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Strip trailing spaces in all site name join keys before cross-dataset joins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3063240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3063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38928" y="3063240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Populate STCC_Code and MAINTENANCE_TYP for all future records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28032" y="3538728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538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38928" y="3538728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Invert MadeGoal encoding: -1 = True (made goal)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4014216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40142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38928" y="4014216"/>
            <a:ext cx="36393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Flag negative invoice CWT as return records in SalesOrderLine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OLTP Data Load — All Tables Loaded Successfully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18 Target Tables | 5,543 Total Rows Loaded | ETL_PIPELINE_V4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2011680" cy="804672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97864"/>
            <a:ext cx="2011680" cy="482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1641897"/>
            <a:ext cx="1920240" cy="28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Tables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Loaded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2011680" cy="804672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50592" y="1197864"/>
            <a:ext cx="2011680" cy="482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5,543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96312" y="1641897"/>
            <a:ext cx="1920240" cy="28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Total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Rows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2011680" cy="8046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1197864"/>
            <a:ext cx="2011680" cy="482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100%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72584" y="1641897"/>
            <a:ext cx="1920240" cy="28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Load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Success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1143000"/>
            <a:ext cx="2011680" cy="804672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1197864"/>
            <a:ext cx="2011680" cy="482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48856" y="1641897"/>
            <a:ext cx="1920240" cy="2816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Failed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EFF5"/>
                </a:solidFill>
              </a:rPr>
              <a:t>Records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29968"/>
          <a:ext cx="8595360" cy="269748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914400"/>
                <a:gridCol w="1005840"/>
                <a:gridCol w="914400"/>
              </a:tblGrid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Target Table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Src Rows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Loaded Rows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A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ARD_OPS_Site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BinCleaning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ARD_OPS_ItemClass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Sales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1,610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ARD_OPS_Product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Sales/Fills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2,101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197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ARD_OPS_Customer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Sales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1,610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145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ARD_OPS_ShipToAccount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Fills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491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74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ARD_OPS_Carrier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Fills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491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ARD_OPS_ProductionMix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Mill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367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21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ARD_OPS_MaintenanceType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WorkOrder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628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ARD_OPS_CleaningType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BinCleaning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162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ARD_OPS_PackLine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Pack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333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ARD_OPS_Bin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BinCleaning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162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162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ARD_OPS_PackRun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Pack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333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333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ARD_OPS_MillRun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Mill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367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367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ARD_OPS_SalesOrder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Sales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1,610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1,325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ARD_OPS_SalesOrderLine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Sales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1,610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1,610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ARD_OPS_WorkOrder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WorkOrder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628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628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ARD_OPS_BinCleaningLog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BinCleaning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162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162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ARD_OPS_FillOrder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Fills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6B7A8D"/>
                          </a:solidFill>
                        </a:rPr>
                        <a:t>491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491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ETL Test Cases — TC01: Business Key Null Count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Validates that no business key columns contain null values in any target table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595360" cy="84124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A020"/>
                </a:solidFill>
              </a:rPr>
              <a:t>TEST DEFINITION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4447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8DD"/>
                </a:solidFill>
              </a:rPr>
              <a:t>Test ID: _TC01  |  Type: Data Integrity  |  Priority: 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8DD"/>
                </a:solidFill>
              </a:rPr>
              <a:t>Expected: 0  |  Pass Condition: actual_value = 0  |  Fail Condition: actual_value &gt; 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1234440"/>
            <a:ext cx="1417320" cy="713232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234440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18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TABLES PASS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84832"/>
          <a:ext cx="8595360" cy="2642616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  <a:gridCol w="1234440"/>
                <a:gridCol w="1234440"/>
                <a:gridCol w="822960"/>
              </a:tblGrid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Target Table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Business Key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Expected Nulls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Actual Nulls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ARD_OPS_Site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site_id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ARD_OPS_ItemClass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item_class_id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ARD_OPS_Product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product_id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ARD_OPS_Customer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customer_id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ARD_OPS_ShipToAccount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ship_to_id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ARD_OPS_Carrier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carrier_id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ARD_OPS_ProductionMix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production_mix_id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ARD_OPS_MaintenanceType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maintenance_type_id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ARD_OPS_CleaningType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cleaning_type_id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ARD_OPS_PackLine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line_id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ARD_OPS_Bin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bin_id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ARD_OPS_PackRun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pack_run_id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ARD_OPS_MillRun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mill_run_id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ARD_OPS_SalesOrder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order_no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ARD_OPS_SalesOrderLine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order_line_id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ARD_OPS_WorkOrder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wo_no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ARD_OPS_BinCleaningLog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cleaning_log_id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ARD_OPS_FillOrder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fill_order_id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</a:rPr>
              <a:t>📌  Business key columns should never be null in the transformed target dataset. A null primary key would break foreign key relationships in the star schema.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ETL Test Cases — TC02: Business Key Duplicate Count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Validates that the target grain is unique on the business key — no duplicate rows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595360" cy="84124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20700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8A020"/>
                </a:solidFill>
              </a:rPr>
              <a:t>TEST DEFINITION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4447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8DD"/>
                </a:solidFill>
              </a:rPr>
              <a:t>Test ID: _TC02  |  Type: Data Integrity  |  Priority: Critical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66420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8DD"/>
                </a:solidFill>
              </a:rPr>
              <a:t>Expected: 0 duplicates  |  Pass Condition: COUNT(DISTINCT biz_key) = COUNT(*)  |  Fail: duplicates found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223760" y="1234440"/>
            <a:ext cx="1417320" cy="713232"/>
          </a:xfrm>
          <a:prstGeom prst="rect">
            <a:avLst/>
          </a:prstGeom>
          <a:solidFill>
            <a:srgbClr val="1B8A5A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234440"/>
            <a:ext cx="1417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 18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TABLES PASS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84832"/>
          <a:ext cx="8595360" cy="2642616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2834640"/>
                <a:gridCol w="822960"/>
                <a:gridCol w="731520"/>
              </a:tblGrid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Target Table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Business Key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Grain Description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Duplicates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4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ARD_OPS_Site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site_id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site_id.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ARD_OPS_ItemClass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item_class_id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item class.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ARD_OPS_Product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product_id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product.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ARD_OPS_Customer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customer_id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customer.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ARD_OPS_ShipToAccount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ship_to_id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ship-to account.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ARD_OPS_Carrier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carrier_id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carrier.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ARD_OPS_ProductionMix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production_mix_id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production mix code.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ARD_OPS_MaintenanceType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maintenance_type_id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maintenance type.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ARD_OPS_CleaningType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cleaning_type_id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cleaning type.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ARD_OPS_PackLine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line_id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site and pack line.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ARD_OPS_Bin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bin_id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bin.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ARD_OPS_PackRun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pack_run_id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source pack record.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ARD_OPS_MillRun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mill_run_id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source mill record.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ARD_OPS_SalesOrder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order_no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order header.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ARD_OPS_SalesOrderLine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order_line_id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source sales line.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ARD_OPS_WorkOrder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wo_no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work order.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ARD_OPS_BinCleaningLog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cleaning_log_id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source bin-cleaning log.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2A4A"/>
                          </a:solidFill>
                        </a:rPr>
                        <a:t>ARD_OPS_FillOrder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i="1" dirty="0">
                          <a:solidFill>
                            <a:srgbClr val="6B7A8D"/>
                          </a:solidFill>
                        </a:rPr>
                        <a:t>fill_order_id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2535"/>
                          </a:solidFill>
                        </a:rPr>
                        <a:t>One row per source fill record.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B7B8C"/>
                          </a:solidFill>
                        </a:rPr>
                        <a:t>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8A5A"/>
                          </a:solidFill>
                        </a:rPr>
                        <a:t>✔ PASS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1B8A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4048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5E20"/>
                </a:solidFill>
              </a:rPr>
              <a:t>📌  Duplicate business keys violate the target table grain and would cause incorrect aggregations in the OLAP layer. Source grain collapsing (e.g., dimension de-duplication) is expected and documented in the Issues sheet.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Star Schema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5 Fact Tables | 9 Dimension Tables | Designed from OLTP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834640" cy="3291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1887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FACT TABLES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1600200"/>
            <a:ext cx="3108960" cy="566928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90672" y="1636776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FACT_SALES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90672" y="183794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C8E0"/>
                </a:solidFill>
              </a:rPr>
              <a:t>FK: DATE_KEY, SITE_KEY,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0C8E0"/>
                </a:solidFill>
              </a:rPr>
              <a:t>PRODUCT_KEY, SHIPTO_KEY, CARRIER_KEY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36008" y="183794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M: SHIPPED_CWT, VOLUME,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MILES, SITE_GOAL, VAR_TO_GOAL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063240" y="2249424"/>
            <a:ext cx="3108960" cy="566928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90672" y="2286000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FACT_PACK_PRODUCTION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90672" y="248716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C8E0"/>
                </a:solidFill>
              </a:rPr>
              <a:t>FK: DATE_KEY, SITE_KEY,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A0C8E0"/>
                </a:solidFill>
              </a:rPr>
              <a:t>PRODUCT_KEY, LINE_KEY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36008" y="24871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M: GOOD_UNITS, TARGET_UNITS,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MINUTES_RUN, PACK_OEE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063240" y="2898648"/>
            <a:ext cx="3108960" cy="566928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90672" y="2935224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FACT_MILL_PRODUCTION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90672" y="31363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C8E0"/>
                </a:solidFill>
              </a:rPr>
              <a:t>FK: DATE_KEY, SITE_KEY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636008" y="3136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M: CALC_DOWNTIME, MIN_RUN,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NO_DEMAND_DOWNTIME, MILL_OEE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063240" y="3547872"/>
            <a:ext cx="3108960" cy="566928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090672" y="3584448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FACT_MAINTENANCE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90672" y="37856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C8E0"/>
                </a:solidFill>
              </a:rPr>
              <a:t>FK: DATE_KEY, SITE_KEY, MAINT_KEY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36008" y="37856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M: WO_COUNT, WO_LATE_COUNT,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WO_ONTIME_COUNT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063240" y="4197096"/>
            <a:ext cx="3108960" cy="566928"/>
          </a:xfrm>
          <a:prstGeom prst="rect">
            <a:avLst/>
          </a:prstGeom>
          <a:solidFill>
            <a:srgbClr val="163654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090672" y="423367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FACT_BIN_CLEANING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90672" y="44348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C8E0"/>
                </a:solidFill>
              </a:rPr>
              <a:t>FK: DATE_KEY, BIN_KEY, CLEANING_KEY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636008" y="4434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M: DAYS_SINCE_LAST_CLEANING,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7EFFC0"/>
                </a:solidFill>
              </a:rPr>
              <a:t>CLEAN_STANDARD_FREQ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82880" y="1188720"/>
            <a:ext cx="265176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01168" y="1225296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DIM_DATE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" y="146304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DATE_KEY, FULL_DATE,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DAY, MONTH, QUARTER, YEAR, WEEK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852928" y="1527048"/>
            <a:ext cx="210312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82880" y="1993392"/>
            <a:ext cx="265176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01168" y="20299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DIM_SITE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1168" y="2267712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SITE_KEY, SITE_ID,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SITE_NAME, REGION, OPS_TYPE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852928" y="2331720"/>
            <a:ext cx="210312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82880" y="2798064"/>
            <a:ext cx="265176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01168" y="283464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DIM_PRODUCT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01168" y="3072384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PRODUCT_KEY, PRODUCT_ID,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PRODUCT_DESC, ITEM_CLASS_DESC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852928" y="3136392"/>
            <a:ext cx="210312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82880" y="3602736"/>
            <a:ext cx="265176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01168" y="363931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DIM_CARRIER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01168" y="3877056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CARRIER_KEY, CARRIER_ID,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CARRIER_CODE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852928" y="3941064"/>
            <a:ext cx="210312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6309360" y="1188720"/>
            <a:ext cx="2651760" cy="566928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327648" y="122529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DIM_CUSTOMER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27648" y="1435608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CUSTOMER_KEY, CUSTOMER_ID,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CUSTOMER_NAME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172200" y="1463040"/>
            <a:ext cx="137160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309360" y="1856232"/>
            <a:ext cx="2651760" cy="566928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6327648" y="1892808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DIM_SHIPTO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27648" y="2103120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SHIPTO_KEY, SHIP_TO_ID,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CITY, STATE, COUNTRY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172200" y="2130552"/>
            <a:ext cx="137160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6309360" y="2523744"/>
            <a:ext cx="2651760" cy="566928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327648" y="2560320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DIM_LINE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327648" y="2770632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LINE_KEY, LINE_ID, LINE_NAME,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SITE_NAME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172200" y="2798064"/>
            <a:ext cx="137160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6309360" y="3191256"/>
            <a:ext cx="2651760" cy="566928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6327648" y="322783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DIM_MAINTENANCE_TYPE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327648" y="3438144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MAINT_KEY, MAINTENANCE_TYPE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172200" y="3465576"/>
            <a:ext cx="137160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309360" y="3858768"/>
            <a:ext cx="2651760" cy="566928"/>
          </a:xfrm>
          <a:prstGeom prst="rect">
            <a:avLst/>
          </a:prstGeom>
          <a:solidFill>
            <a:srgbClr val="0F2A4A"/>
          </a:solidFill>
          <a:ln w="12700">
            <a:solidFill>
              <a:srgbClr val="0B7B8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6327648" y="389534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</a:rPr>
              <a:t>DIM_BIN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327648" y="4105656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BIN_KEY, BIN_ID, BIN_PURPOSE,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0C8DD"/>
                </a:solidFill>
              </a:rPr>
              <a:t>SITE_NAME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172200" y="4133088"/>
            <a:ext cx="137160" cy="0"/>
          </a:xfrm>
          <a:prstGeom prst="line">
            <a:avLst/>
          </a:prstGeom>
          <a:noFill/>
          <a:ln w="12700">
            <a:solidFill>
              <a:srgbClr val="0B7B8C"/>
            </a:solidFill>
            <a:prstDash val="dash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OLAP &amp; Next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D"/>
                </a:solidFill>
              </a:rPr>
              <a:t>From EDA Insights to Dimensional Analytics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03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A6BE"/>
                </a:solidFill>
              </a:rPr>
              <a:t>Ardent Mills Operations Analytics  |  Internal 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170432"/>
            <a:ext cx="4206240" cy="329184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704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Site Dimension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5361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Albany-1001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17739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Ogden-1025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0116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Ayer-1004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2494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Region: East / West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170432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170432"/>
            <a:ext cx="4206240" cy="329184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17043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Dimension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5361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Date → Week → Month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177393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Mar–Apr 2017 range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Daily OEE trends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24942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Year-Week grouping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679192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79192"/>
            <a:ext cx="4206240" cy="329184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791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Dimension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0449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Hard Flour / Soft Flour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2826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Byproducts, Organic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35204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197 unique SKUs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37581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Product → Class hierarchy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679192"/>
            <a:ext cx="4206240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679192"/>
            <a:ext cx="4206240" cy="329184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6791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Operations Dimension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304495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Pack Line / Mill Unit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2826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Maintenance Type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35204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Bin Purpose / Type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37581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▸  Carrier: FOLW / WWSP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1480" y="42336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020"/>
                </a:solidFill>
              </a:rPr>
              <a:t>OLAP TARGET KPIs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507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✦ OEE by Site×Date×Line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103120" y="4507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✦ Fill Goal% by Site×Week×Carrier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794760" y="4507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✦ WO Late Rate by Site×Category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0" y="4507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✦ Revenue (CWT) by Customer×Product×Site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178040" y="45079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✦ Bin Compliance by Region×Freq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400" kern="0" dirty="0">
                <a:solidFill>
                  <a:srgbClr val="FFFFFF"/>
                </a:solidFill>
              </a:rPr>
              <a:t>PIPELINE COMPLETE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020"/>
                </a:solidFill>
              </a:rPr>
              <a:t>Ardent Mill Operations Analytics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304288"/>
            <a:ext cx="4572000" cy="36576"/>
          </a:xfrm>
          <a:prstGeom prst="rect">
            <a:avLst/>
          </a:prstGeom>
          <a:solidFill>
            <a:srgbClr val="0B7B8C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450592"/>
            <a:ext cx="16002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020"/>
                </a:solidFill>
              </a:rPr>
              <a:t>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Source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Datasets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03120" y="2450592"/>
            <a:ext cx="16002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020"/>
                </a:solidFill>
              </a:rPr>
              <a:t>18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0312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OLTP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Tables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0" y="2450592"/>
            <a:ext cx="16002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020"/>
                </a:solidFill>
              </a:rPr>
              <a:t>5,543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Loaded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Rows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577840" y="2450592"/>
            <a:ext cx="16002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020"/>
                </a:solidFill>
              </a:rPr>
              <a:t>TC01+TC02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Tests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Passed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315200" y="2450592"/>
            <a:ext cx="160020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B7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48716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020"/>
                </a:solidFill>
              </a:rPr>
              <a:t>5 Facts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8A020"/>
                </a:solidFill>
              </a:rPr>
              <a:t>9 Dims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31272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Star Schema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0AABF"/>
                </a:solidFill>
              </a:rPr>
              <a:t>Designed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BBD4"/>
                </a:solidFill>
              </a:rPr>
              <a:t>Ready for data cleaning, feature engineering, and OLAP cube build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6817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A96"/>
                </a:solidFill>
              </a:rPr>
              <a:t>Prepared for Internal Team Review  •  Ardent Mills Operations Analytics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Ardent Mill Operations Analytics</dc:title>
  <dc:subject>PptxGenJS Presentation</dc:subject>
  <dc:creator>PptxGenJS</dc:creator>
  <cp:lastModifiedBy>PptxGenJS</cp:lastModifiedBy>
  <cp:revision>1</cp:revision>
  <dcterms:created xsi:type="dcterms:W3CDTF">2026-04-24T03:57:48Z</dcterms:created>
  <dcterms:modified xsi:type="dcterms:W3CDTF">2026-04-24T03:57:48Z</dcterms:modified>
</cp:coreProperties>
</file>