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1" i="0" u="none" strike="noStrike">
                <a:solidFill>
                  <a:srgbClr val="000000"/>
                </a:solidFill>
                <a:latin typeface="Arial"/>
              </a:rPr>
              <a:t>Pack OEE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Pack OEE Stats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Min (0.0)</c:v>
                  </c:pt>
                  <c:pt idx="1">
                    <c:v>Mean (0.50)</c:v>
                  </c:pt>
                  <c:pt idx="2">
                    <c:v>Median (0.55)</c:v>
                  </c:pt>
                  <c:pt idx="3">
                    <c:v>Max (1.06)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0.503</c:v>
                </c:pt>
                <c:pt idx="2">
                  <c:v>0.549</c:v>
                </c:pt>
                <c:pt idx="3">
                  <c:v>1.057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1" i="0" u="none" strike="noStrike">
                <a:solidFill>
                  <a:srgbClr val="000000"/>
                </a:solidFill>
                <a:latin typeface="Arial"/>
              </a:rPr>
              <a:t>Mill OEE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 OEE Stats</c:v>
                </c:pt>
              </c:strCache>
            </c:strRef>
          </c:tx>
          <c:spPr>
            <a:solidFill>
              <a:srgbClr val="1543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43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6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44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Min (0.0)</c:v>
                  </c:pt>
                  <c:pt idx="1">
                    <c:v>Mean (0.76)</c:v>
                  </c:pt>
                  <c:pt idx="2">
                    <c:v>Median (0.97)</c:v>
                  </c:pt>
                  <c:pt idx="3">
                    <c:v>Max (1.83)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0.763</c:v>
                </c:pt>
                <c:pt idx="2">
                  <c:v>0.967</c:v>
                </c:pt>
                <c:pt idx="3">
                  <c:v>1.826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00000"/>
                </a:solidFill>
                <a:latin typeface="Arial"/>
              </a:rPr>
              <a:t>Sales by Item Class (Estimated Distribution)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Item 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F72"/>
              </a:solidFill>
              <a:effectLst/>
            </c:spPr>
          </c:dPt>
          <c:dPt>
            <c:idx val="1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bubble3D val="0"/>
            <c:spPr>
              <a:solidFill>
                <a:srgbClr val="6E2F9E"/>
              </a:solidFill>
              <a:effectLst/>
            </c:spPr>
          </c:dPt>
          <c:dPt>
            <c:idx val="3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bubble3D val="0"/>
            <c:spPr>
              <a:solidFill>
                <a:srgbClr val="059669"/>
              </a:solidFill>
              <a:effectLst/>
            </c:spPr>
          </c:dPt>
          <c:dPt>
            <c:idx val="5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Hard Flour</c:v>
                </c:pt>
                <c:pt idx="1">
                  <c:v>Wheat Byproducts</c:v>
                </c:pt>
                <c:pt idx="2">
                  <c:v>Soft Flour</c:v>
                </c:pt>
                <c:pt idx="3">
                  <c:v>Organic</c:v>
                </c:pt>
                <c:pt idx="4">
                  <c:v>Whole Wheat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55</c:v>
                </c:pt>
                <c:pt idx="1">
                  <c:v>15</c:v>
                </c:pt>
                <c:pt idx="2">
                  <c:v>18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00000"/>
                </a:solidFill>
                <a:latin typeface="Arial"/>
              </a:rPr>
              <a:t>Order Status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Count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INVOICED</c:v>
                  </c:pt>
                  <c:pt idx="1">
                    <c:v>SHIPPED
NOT BILLED</c:v>
                  </c:pt>
                  <c:pt idx="2">
                    <c:v>TRUE-RETURN</c:v>
                  </c:pt>
                  <c:pt idx="3">
                    <c:v>RETURNED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1350</c:v>
                </c:pt>
                <c:pt idx="1">
                  <c:v>195</c:v>
                </c:pt>
                <c:pt idx="2">
                  <c:v>45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00000"/>
                </a:solidFill>
                <a:latin typeface="Arial"/>
              </a:rPr>
              <a:t>Preventive vs Corrective WOs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PREVENTIVE</c:v>
                </c:pt>
                <c:pt idx="1">
                  <c:v>CORRECTIVE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490</c:v>
                </c:pt>
                <c:pt idx="1">
                  <c:v>138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00000"/>
                </a:solidFill>
                <a:latin typeface="Arial"/>
              </a:rPr>
              <a:t>Work Order Status Breakdown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 Count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UPCOMING
(323 WOs)</c:v>
                  </c:pt>
                  <c:pt idx="1">
                    <c:v>COMPLETED
(222 WOs)</c:v>
                  </c:pt>
                  <c:pt idx="2">
                    <c:v>TO PROCESS
(65 WOs)</c:v>
                  </c:pt>
                  <c:pt idx="3">
                    <c:v>SCHEDULED
(18 WOs)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323</c:v>
                </c:pt>
                <c:pt idx="1">
                  <c:v>222</c:v>
                </c:pt>
                <c:pt idx="2">
                  <c:v>65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00000"/>
                </a:solidFill>
                <a:latin typeface="Arial"/>
              </a:rPr>
              <a:t>Bin Cleaning Status (162 Bins)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Bin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 Time</c:v>
                </c:pt>
                <c:pt idx="1">
                  <c:v>Late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119</c:v>
                </c:pt>
                <c:pt idx="1">
                  <c:v>43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00000"/>
                </a:solidFill>
                <a:latin typeface="Arial"/>
              </a:rPr>
              <a:t>Bulk Fill Goal Performance (491 Loads)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Fill Performance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Made Goal (≥510 cwt)</c:v>
                  </c:pt>
                  <c:pt idx="1">
                    <c:v>Missed Goal (&lt;510 cwt)</c:v>
                  </c:pt>
                  <c:pt idx="2">
                    <c:v>Exception Loads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359</c:v>
                </c:pt>
                <c:pt idx="1">
                  <c:v>132</c:v>
                </c:pt>
                <c:pt idx="2">
                  <c:v>107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00000"/>
                </a:solidFill>
                <a:latin typeface="Arial"/>
              </a:rPr>
              <a:t>Top Missing Value Issues by Column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Value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Fills
STCC_Code</c:v>
                  </c:pt>
                  <c:pt idx="1">
                    <c:v>BinCleaning
comments</c:v>
                  </c:pt>
                  <c:pt idx="2">
                    <c:v>Fills
exceptioncwts</c:v>
                  </c:pt>
                  <c:pt idx="3">
                    <c:v>WorkOrder
MAINT_TYP</c:v>
                  </c:pt>
                  <c:pt idx="4">
                    <c:v>Pack
GoodUnits</c:v>
                  </c:pt>
                  <c:pt idx="5">
                    <c:v>WorkOrder
CATEGORY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95.1</c:v>
                </c:pt>
                <c:pt idx="2">
                  <c:v>78.2</c:v>
                </c:pt>
                <c:pt idx="3">
                  <c:v>17.7</c:v>
                </c:pt>
                <c:pt idx="4">
                  <c:v>12.6</c:v>
                </c:pt>
                <c:pt idx="5">
                  <c:v>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4206240"/>
          </a:xfrm>
          <a:prstGeom prst="rect">
            <a:avLst/>
          </a:prstGeom>
          <a:solidFill>
            <a:srgbClr val="0D1B2A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023360"/>
            <a:ext cx="12161520" cy="2834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4023360"/>
            <a:ext cx="12161520" cy="54864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320040"/>
            <a:ext cx="3474720" cy="411480"/>
          </a:xfrm>
          <a:prstGeom prst="rect">
            <a:avLst>
              <a:gd name="adj" fmla="val 11111"/>
            </a:avLst>
          </a:prstGeom>
          <a:solidFill>
            <a:srgbClr val="E8751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0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ARDENT MILLS — OPERATIONS 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Raw Data → EDA → OLAP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Ardent Mills Operations Analytics  |  Milling • Packaging • Sales • Maintenance • Logistics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297680"/>
            <a:ext cx="3657600" cy="1737360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370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</a:rPr>
              <a:t>📊  6 Datasets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" y="49194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Pack · Mill · Sales · WO · BinClean · Fills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61688" y="4297680"/>
            <a:ext cx="3657600" cy="1737360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61688" y="4370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</a:rPr>
              <a:t>📅  Mar 2017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361688" y="49194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Data Date Range: Mar 10 – Apr 5, 2017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66176" y="4297680"/>
            <a:ext cx="3657600" cy="1737360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66176" y="4370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</a:rPr>
              <a:t>🔢  3,591 Rows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66176" y="49194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Across all operational datasets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Prepared for Internal Team Review  •  Ardent Mills Operations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4572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From Raw Data Ingestion to OLAP Analytics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37033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73152" cy="21488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44752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4264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Data Ingestion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" y="1993392"/>
            <a:ext cx="3429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Load raw datasets: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Pack, Mill, Sales,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WorkOrder, BinCleaning,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Fills (6 tables)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0" y="2350008"/>
            <a:ext cx="228600" cy="0"/>
          </a:xfrm>
          <a:prstGeom prst="line">
            <a:avLst/>
          </a:prstGeom>
          <a:noFill/>
          <a:ln w="25400">
            <a:solidFill>
              <a:srgbClr val="E875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280160"/>
            <a:ext cx="37033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280160"/>
            <a:ext cx="73152" cy="214884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444752"/>
            <a:ext cx="502920" cy="502920"/>
          </a:xfrm>
          <a:prstGeom prst="ellipse">
            <a:avLst/>
          </a:prstGeom>
          <a:solidFill>
            <a:srgbClr val="0E6655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01768" y="14264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Data Profiling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16552" y="1993392"/>
            <a:ext cx="3429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Schema validation,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row/column counts,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data type checks,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null detection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2350008"/>
            <a:ext cx="228600" cy="0"/>
          </a:xfrm>
          <a:prstGeom prst="line">
            <a:avLst/>
          </a:prstGeom>
          <a:noFill/>
          <a:ln w="25400">
            <a:solidFill>
              <a:srgbClr val="E875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1280160"/>
            <a:ext cx="37033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1280160"/>
            <a:ext cx="73152" cy="2148840"/>
          </a:xfrm>
          <a:prstGeom prst="rect">
            <a:avLst/>
          </a:prstGeom>
          <a:solidFill>
            <a:srgbClr val="6E2F9E"/>
          </a:solidFill>
          <a:ln/>
        </p:spPr>
      </p:sp>
      <p:sp>
        <p:nvSpPr>
          <p:cNvPr id="22" name="Shape 20"/>
          <p:cNvSpPr/>
          <p:nvPr/>
        </p:nvSpPr>
        <p:spPr>
          <a:xfrm>
            <a:off x="8321040" y="1444752"/>
            <a:ext cx="502920" cy="502920"/>
          </a:xfrm>
          <a:prstGeom prst="ellipse">
            <a:avLst/>
          </a:prstGeom>
          <a:solidFill>
            <a:srgbClr val="6E2F9E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33688" y="14264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EDA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48472" y="1993392"/>
            <a:ext cx="3429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Missing value analysis,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statistical summaries,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outlier detection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with IQR method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703320"/>
            <a:ext cx="37033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03320"/>
            <a:ext cx="73152" cy="2148840"/>
          </a:xfrm>
          <a:prstGeom prst="rect">
            <a:avLst/>
          </a:prstGeom>
          <a:solidFill>
            <a:srgbClr val="B7440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867912"/>
            <a:ext cx="502920" cy="502920"/>
          </a:xfrm>
          <a:prstGeom prst="ellipse">
            <a:avLst/>
          </a:prstGeom>
          <a:solidFill>
            <a:srgbClr val="B7440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9848" y="38496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Data Cleaning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4632" y="4416552"/>
            <a:ext cx="3429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Handle nulls,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strip trailing spaces,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normalize joins,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flag anomalies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023360" y="4773168"/>
            <a:ext cx="228600" cy="0"/>
          </a:xfrm>
          <a:prstGeom prst="line">
            <a:avLst/>
          </a:prstGeom>
          <a:noFill/>
          <a:ln w="25400">
            <a:solidFill>
              <a:srgbClr val="E875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51960" y="3703320"/>
            <a:ext cx="37033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51960" y="3703320"/>
            <a:ext cx="73152" cy="214884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9120" y="3867912"/>
            <a:ext cx="502920" cy="502920"/>
          </a:xfrm>
          <a:prstGeom prst="ellipse">
            <a:avLst/>
          </a:prstGeom>
          <a:solidFill>
            <a:srgbClr val="154360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01768" y="38496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Feature Engineering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416552" y="4416552"/>
            <a:ext cx="3429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OEE decomposition,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KPI derivation,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temporal features,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cross-dataset joins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955280" y="4773168"/>
            <a:ext cx="228600" cy="0"/>
          </a:xfrm>
          <a:prstGeom prst="line">
            <a:avLst/>
          </a:prstGeom>
          <a:noFill/>
          <a:ln w="25400">
            <a:solidFill>
              <a:srgbClr val="E875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83880" y="3703320"/>
            <a:ext cx="37033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83880" y="3703320"/>
            <a:ext cx="73152" cy="214884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42" name="Shape 40"/>
          <p:cNvSpPr/>
          <p:nvPr/>
        </p:nvSpPr>
        <p:spPr>
          <a:xfrm>
            <a:off x="8321040" y="3867912"/>
            <a:ext cx="502920" cy="502920"/>
          </a:xfrm>
          <a:prstGeom prst="ellipse">
            <a:avLst/>
          </a:prstGeom>
          <a:solidFill>
            <a:srgbClr val="7B241C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933688" y="38496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OLAP / Analytics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348472" y="4416552"/>
            <a:ext cx="3429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Slice &amp; dice KPIs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by site, date, unit.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Dashboard-ready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aggregations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Ardent Mills  |  EDA Presentation  | 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4572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6 Operational Tables Analyzed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1612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1887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1887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188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Date Range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188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Domain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664208"/>
            <a:ext cx="116128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64208"/>
            <a:ext cx="18288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Pack (Packaging)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166420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333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166420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16642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42 nulls (12.6%)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16642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Mar 10–23, 2017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16642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Packaging Operations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322576"/>
            <a:ext cx="11612880" cy="65836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3225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Mill (Milling)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232257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367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232257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232257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3225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Mar 10–22, 2017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23225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Milling Operations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980944"/>
            <a:ext cx="116128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9809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Sales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298094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1,610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298094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298094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29809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Mar 10–23, 2017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29809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Sales &amp; Revenue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639312"/>
            <a:ext cx="11612880" cy="65836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6393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WorkOrder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03120" y="363931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628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26080" y="36393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363931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165 nulls (mixed)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36393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Mar 11 – Apr 5, 2017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36393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Maintenance Management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297680"/>
            <a:ext cx="116128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2976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BinCleaning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03120" y="42976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162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26080" y="42976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31920" y="42976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154+ nulls (comments)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94960" y="42976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As of Mar 23, 2017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55280" y="42976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Food Safety / Sanitation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4956048"/>
            <a:ext cx="11612880" cy="65836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9560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Fills (Logistics)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103120" y="495604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491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926080" y="495604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931920" y="49560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491 nulls (STCC 100%)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94960" y="4956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Mar 10–23, 2017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955280" y="49560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Logistics &amp; Fulfillment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5614416"/>
            <a:ext cx="11612880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56144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103120" y="561441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3,591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926080" y="5614416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105 cols across 6 tables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Ardent Mills  |  EDA Presentation  |  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4572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Pack &amp; Mill EDA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Packaging &amp; Milling Operations Analysis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143000"/>
          <a:ext cx="54864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17920" y="1143000"/>
          <a:ext cx="56235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977640"/>
            <a:ext cx="5669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3977640"/>
            <a:ext cx="64008" cy="1143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0507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Pack OEE – 50.3% Mean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44348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Far below world-class 85% target. 42 null GoodUnit records (12.6%) and at least one OEE &gt;100% indicates measurement artifacts.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3977640"/>
            <a:ext cx="5669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17920" y="3977640"/>
            <a:ext cx="64008" cy="1143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0"/>
          <p:cNvSpPr/>
          <p:nvPr/>
        </p:nvSpPr>
        <p:spPr>
          <a:xfrm>
            <a:off x="6355080" y="40507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Pack Downtime Avg 50 min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355080" y="44348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With outliers reaching 414 min. High variance (σ=75) signals inconsistent operations across sites (Albany &amp; Ogden).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5239512"/>
            <a:ext cx="5669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5239512"/>
            <a:ext cx="64008" cy="1143000"/>
          </a:xfrm>
          <a:prstGeom prst="rect">
            <a:avLst/>
          </a:prstGeom>
          <a:solidFill>
            <a:srgbClr val="6E2F9E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531266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Mill OEE – 76.3% Mean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5696712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Better than Pack but 83 outliers (&gt;1.0 OEE) are data anomalies. No-demand downtime averages 104 min/session.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5239512"/>
            <a:ext cx="5669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5239512"/>
            <a:ext cx="64008" cy="114300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22" name="Text 18"/>
          <p:cNvSpPr/>
          <p:nvPr/>
        </p:nvSpPr>
        <p:spPr>
          <a:xfrm>
            <a:off x="6355080" y="531266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Mill Downtime Spikes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355080" y="5696712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Max downtime of 1440 min (full day). High no-demand downtime at Ayer, Albany, Ogden sites suggests capacity vs demand mismatch.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Ardent Mills  |  EDA Presentation  |  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4572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Sales EDA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Revenue &amp; Order Analysis — 1,610 Records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13258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1,610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200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</a:rPr>
              <a:t>1,325 unique order IDs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743200" cy="1325880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Unique Customers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18688" y="1572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145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18688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</a:rPr>
              <a:t>Across 3 sites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143000"/>
            <a:ext cx="2743200" cy="1325880"/>
          </a:xfrm>
          <a:prstGeom prst="rect">
            <a:avLst/>
          </a:prstGeom>
          <a:solidFill>
            <a:srgbClr val="6E2F9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Avg Invoice (CWT)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17336" y="1572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426.6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117336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</a:rPr>
              <a:t>Median: 481.6 CWT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15984" y="1143000"/>
            <a:ext cx="2743200" cy="1325880"/>
          </a:xfrm>
          <a:prstGeom prst="rect">
            <a:avLst/>
          </a:prstGeom>
          <a:solidFill>
            <a:srgbClr val="E8751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15984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Invoice Range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15984" y="1572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-1,168 to 2,966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015984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</a:rPr>
              <a:t>Negatives = returns</a:t>
            </a:r>
            <a:endParaRPr lang="en-US" sz="9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20040" y="269748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5943600" y="2697480"/>
          <a:ext cx="5897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Ardent Mills  |  EDA Presentation  |  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4572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Work Order &amp; Maintenance EDA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628 Work Orders | Preventive vs Corrective Analysis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1430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669280" y="1143000"/>
          <a:ext cx="6172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590288"/>
            <a:ext cx="56692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4590288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64515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⚠️ 13.1% Late WOs (82 orders)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5020056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Late completion rate. Food safety work orders cannot afford delays — triggers compliance risk review.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4590288"/>
            <a:ext cx="56692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17920" y="4590288"/>
            <a:ext cx="64008" cy="100584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4" name="Text 10"/>
          <p:cNvSpPr/>
          <p:nvPr/>
        </p:nvSpPr>
        <p:spPr>
          <a:xfrm>
            <a:off x="6355080" y="464515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🔧 17.7% Missing Maintenance Type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355080" y="5020056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111 null values in MAINTENANCE_TYP field — data entry gap that reduces reporting accuracy.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5669280"/>
            <a:ext cx="56692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5669280"/>
            <a:ext cx="64008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572414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✅ 78% Preventive Ratio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09904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78% of WOs are preventive — close to the industry best-practice threshold of 80%+ for PM dominance.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5669280"/>
            <a:ext cx="56692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5669280"/>
            <a:ext cx="64008" cy="10058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18"/>
          <p:cNvSpPr/>
          <p:nvPr/>
        </p:nvSpPr>
        <p:spPr>
          <a:xfrm>
            <a:off x="6355080" y="572414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📋 Large Upcoming Backlog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355080" y="609904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323 WOs are 'UPCOMING' — requires workload planning to prevent future lateness spike.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Ardent Mills  |  EDA Presentation  |  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4572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Bin Cleaning &amp; Fills (Logistics) EDA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Food Safety Sanitation &amp; Bulk Logistics Performance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14300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029200" y="1143000"/>
          <a:ext cx="6812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114800"/>
            <a:ext cx="5669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4114800"/>
            <a:ext cx="64008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18795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🚨 Max 722 Days Since Cleaning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45720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One bin went 722 days without cleaning — 2 years overdue. Critical food safety violation flag requiring immediate action.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4114800"/>
            <a:ext cx="5669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17920" y="4114800"/>
            <a:ext cx="64008" cy="114300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4" name="Text 10"/>
          <p:cNvSpPr/>
          <p:nvPr/>
        </p:nvSpPr>
        <p:spPr>
          <a:xfrm>
            <a:off x="6355080" y="418795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📊 Mean Cleaning Gap: 130 Days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355080" y="45720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of 130 days between cleanings despite 30-day standard for most bins. Significant compliance gap across all 3 sites.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5376672"/>
            <a:ext cx="5669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5376672"/>
            <a:ext cx="64008" cy="1143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544982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🚛 Avg Fill: 518 CWT (Goal: 510)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5833872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slightly above goal, but 26.9% of loads (132) missed the 510 CWT target. Each cwt shortfall = lost revenue.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5376672"/>
            <a:ext cx="56692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5376672"/>
            <a:ext cx="64008" cy="1143000"/>
          </a:xfrm>
          <a:prstGeom prst="rect">
            <a:avLst/>
          </a:prstGeom>
          <a:solidFill>
            <a:srgbClr val="6E2F9E"/>
          </a:solidFill>
          <a:ln/>
        </p:spPr>
      </p:sp>
      <p:sp>
        <p:nvSpPr>
          <p:cNvPr id="22" name="Text 18"/>
          <p:cNvSpPr/>
          <p:nvPr/>
        </p:nvSpPr>
        <p:spPr>
          <a:xfrm>
            <a:off x="6355080" y="544982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⚡ STCC Code 100% Null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355080" y="5833872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491 STCC_Code values are missing — transport commodity classification entirely absent. Must be resolved pre-reporting.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Ardent Mills  |  EDA Presentation  |  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4572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Quality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</a:rPr>
              <a:t>Issues, Anomalies &amp; Recommended Fixes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143000"/>
          <a:ext cx="6858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143000"/>
            <a:ext cx="4343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0" y="1143000"/>
            <a:ext cx="43434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1143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Anomalies Found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35240" y="16916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🔴  Pack OEE &gt; 100% (data artifact)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35240" y="2039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🔴  Mill OEE &gt; 1.83 (83 records)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635240" y="238658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🔴  Bin max 722 days uncleaned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35240" y="273405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🟡  Negative CalcDT (shift overtime)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35240" y="30815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🟡  Trailing spaces in site names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35240" y="34290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🟡  MadeGoal encoded as -1/0 (inverted)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35240" y="37764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🟢  Miles column all zeros in Fills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35240" y="412394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🟢  Sales order ID mixed alpha/numeric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0040" y="4892040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Recommended Actions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0040" y="5376672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7240" y="53309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Impute or drop Pack GoodUnits nulls — they block OEE calculation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17920" y="5376672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0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75120" y="53309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Cap OEE at 1.0 and log anomalies as data quality flags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0040" y="6035040"/>
            <a:ext cx="384048" cy="384048"/>
          </a:xfrm>
          <a:prstGeom prst="ellipse">
            <a:avLst/>
          </a:prstGeom>
          <a:solidFill>
            <a:srgbClr val="6E2F9E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6035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7240" y="59893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Strip trailing spaces in all site name join keys before cross-dataset joins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17920" y="6035040"/>
            <a:ext cx="384048" cy="384048"/>
          </a:xfrm>
          <a:prstGeom prst="ellipse">
            <a:avLst/>
          </a:prstGeom>
          <a:solidFill>
            <a:srgbClr val="E8751A"/>
          </a:solidFill>
          <a:ln/>
        </p:spPr>
      </p:sp>
      <p:sp>
        <p:nvSpPr>
          <p:cNvPr id="29" name="Text 26"/>
          <p:cNvSpPr/>
          <p:nvPr/>
        </p:nvSpPr>
        <p:spPr>
          <a:xfrm>
            <a:off x="6217920" y="6035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75120" y="59893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Populate STCC_Code and MAINTENANCE_TYP for all future records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Ardent Mills  |  EDA Presentation  |  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&amp; 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</a:rPr>
              <a:t>From EDA Insights to Dimensional Analytics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0" cy="3108960"/>
          </a:xfrm>
          <a:prstGeom prst="rect">
            <a:avLst/>
          </a:prstGeom>
          <a:solidFill>
            <a:srgbClr val="1B4F72">
              <a:alpha val="85000"/>
            </a:srgbClr>
          </a:solidFill>
          <a:ln w="1905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Site Dimension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Albany-1001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Ogden-1025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648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Ayer-1004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2153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Region: East / West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920240"/>
            <a:ext cx="2743200" cy="3108960"/>
          </a:xfrm>
          <a:prstGeom prst="rect">
            <a:avLst/>
          </a:prstGeom>
          <a:solidFill>
            <a:srgbClr val="0E7C7B">
              <a:alpha val="8500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Dimension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2514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Date → Week → Month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47288" y="3081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Mar–Apr 2017 range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47288" y="3648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Daily OEE trends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47288" y="42153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Year-Week grouping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4496" y="1920240"/>
            <a:ext cx="2743200" cy="3108960"/>
          </a:xfrm>
          <a:prstGeom prst="rect">
            <a:avLst/>
          </a:prstGeom>
          <a:solidFill>
            <a:srgbClr val="6E2F9E">
              <a:alpha val="85000"/>
            </a:srgbClr>
          </a:solidFill>
          <a:ln w="19050">
            <a:solidFill>
              <a:srgbClr val="6E2F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Dimension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2514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Hard Flour / Soft Flour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45936" y="3081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Byproducts, Organic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45936" y="3648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197 unique SKUs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45936" y="42153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Product → Class hierarchy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53144" y="1920240"/>
            <a:ext cx="2743200" cy="3108960"/>
          </a:xfrm>
          <a:prstGeom prst="rect">
            <a:avLst/>
          </a:prstGeom>
          <a:solidFill>
            <a:srgbClr val="E8751A">
              <a:alpha val="85000"/>
            </a:srgbClr>
          </a:solidFill>
          <a:ln w="19050">
            <a:solidFill>
              <a:srgbClr val="E875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3144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 Dimension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44584" y="2514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Pack Line / Mill Unit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44584" y="3081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Maintenance Type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44584" y="3648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Bin Purpose / Type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44584" y="42153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▸  Carrier: FOLW / WWSP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5212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OLAP Target KPIs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5650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✦  OEE by Site × Date × Line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61688" y="5650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✦  Fill Goal % by Site × Week × Carrier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66176" y="5650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✦  WO Late Rate by Site × Category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0899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✦  Revenue (CWT) by Customer × Product Class × Site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61688" y="60899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✦  Bin Compliance Rate by Region × Frequency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Ardent Mills  |  EDA Presentation  |  Slide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828800" y="1371600"/>
            <a:ext cx="8503920" cy="4114800"/>
          </a:xfrm>
          <a:prstGeom prst="rect">
            <a:avLst/>
          </a:prstGeom>
          <a:solidFill>
            <a:srgbClr val="0D1B2A">
              <a:alpha val="90000"/>
            </a:srgbClr>
          </a:solidFill>
          <a:ln w="25400">
            <a:solidFill>
              <a:srgbClr val="E875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Complete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828800" y="2606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Ardent Mills Operations Analytics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246120"/>
            <a:ext cx="5760720" cy="0"/>
          </a:xfrm>
          <a:prstGeom prst="line">
            <a:avLst/>
          </a:prstGeom>
          <a:noFill/>
          <a:ln w="12700">
            <a:solidFill>
              <a:srgbClr val="E875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3429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✦  6 Datasets Profiled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✦  3,591 Total Records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03120" y="3904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✦  10+ Data Quality Issues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3904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✦  6 OLAP Dimensions Defined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828800" y="4800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</a:rPr>
              <a:t>Ready for data cleaning, feature engineering, and OLAP cube build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0" y="6035040"/>
            <a:ext cx="1216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Ardent Mills – EDA Presentation</dc:title>
  <dc:subject>PptxGenJS Presentation</dc:subject>
  <dc:creator>PptxGenJS</dc:creator>
  <cp:lastModifiedBy>PptxGenJS</cp:lastModifiedBy>
  <cp:revision>1</cp:revision>
  <dcterms:created xsi:type="dcterms:W3CDTF">2026-04-16T04:12:22Z</dcterms:created>
  <dcterms:modified xsi:type="dcterms:W3CDTF">2026-04-16T04:12:22Z</dcterms:modified>
</cp:coreProperties>
</file>